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LINKEDIN CONTENT STUDIO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85216" y="932688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211D"/>
                </a:solidFill>
              </a:rPr>
              <a:t>Technical architecture to 1M users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1792" y="212140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26D"/>
                </a:solidFill>
              </a:rPr>
              <a:t>Current POC, commercial hardening path, and future-state platform architecture for a profile-aware AI writing product.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5175504"/>
            <a:ext cx="1280160" cy="310896"/>
          </a:xfrm>
          <a:prstGeom prst="roundRect">
            <a:avLst>
              <a:gd name="adj" fmla="val 47059"/>
            </a:avLst>
          </a:prstGeom>
          <a:solidFill>
            <a:srgbClr val="DFF3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25322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766E"/>
                </a:solidFill>
              </a:rPr>
              <a:t>POC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075688" y="5330952"/>
            <a:ext cx="585216" cy="0"/>
          </a:xfrm>
          <a:prstGeom prst="line">
            <a:avLst/>
          </a:prstGeom>
          <a:noFill/>
          <a:ln w="17780">
            <a:solidFill>
              <a:srgbClr val="9AA7A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62072" y="5175504"/>
            <a:ext cx="1280160" cy="310896"/>
          </a:xfrm>
          <a:prstGeom prst="roundRect">
            <a:avLst>
              <a:gd name="adj" fmla="val 47059"/>
            </a:avLst>
          </a:prstGeom>
          <a:solidFill>
            <a:srgbClr val="E7E7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2072" y="525322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</a:rPr>
              <a:t>Private beta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60520" y="5330952"/>
            <a:ext cx="585216" cy="0"/>
          </a:xfrm>
          <a:prstGeom prst="line">
            <a:avLst/>
          </a:prstGeom>
          <a:noFill/>
          <a:ln w="17780">
            <a:solidFill>
              <a:srgbClr val="9AA7A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46904" y="5175504"/>
            <a:ext cx="1280160" cy="310896"/>
          </a:xfrm>
          <a:prstGeom prst="roundRect">
            <a:avLst>
              <a:gd name="adj" fmla="val 47059"/>
            </a:avLst>
          </a:prstGeom>
          <a:solidFill>
            <a:srgbClr val="FFF0CC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46904" y="525322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Public beta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245352" y="5330952"/>
            <a:ext cx="585216" cy="0"/>
          </a:xfrm>
          <a:prstGeom prst="line">
            <a:avLst/>
          </a:prstGeom>
          <a:noFill/>
          <a:ln w="17780">
            <a:solidFill>
              <a:srgbClr val="9AA7A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31736" y="5175504"/>
            <a:ext cx="1280160" cy="310896"/>
          </a:xfrm>
          <a:prstGeom prst="roundRect">
            <a:avLst>
              <a:gd name="adj" fmla="val 47059"/>
            </a:avLst>
          </a:prstGeom>
          <a:solidFill>
            <a:srgbClr val="E8F5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31736" y="525322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766E"/>
                </a:solidFill>
              </a:rPr>
              <a:t>SaaS scale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330184" y="5330952"/>
            <a:ext cx="585216" cy="0"/>
          </a:xfrm>
          <a:prstGeom prst="line">
            <a:avLst/>
          </a:prstGeom>
          <a:noFill/>
          <a:ln w="17780">
            <a:solidFill>
              <a:srgbClr val="9AA7A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16568" y="5175504"/>
            <a:ext cx="1280160" cy="310896"/>
          </a:xfrm>
          <a:prstGeom prst="roundRect">
            <a:avLst>
              <a:gd name="adj" fmla="val 47059"/>
            </a:avLst>
          </a:prstGeom>
          <a:solidFill>
            <a:srgbClr val="ECEB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16568" y="525322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</a:rPr>
              <a:t>1M users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955280" y="685800"/>
            <a:ext cx="3566160" cy="3566160"/>
          </a:xfrm>
          <a:prstGeom prst="arc">
            <a:avLst/>
          </a:prstGeom>
          <a:noFill/>
          <a:ln w="25400">
            <a:solidFill>
              <a:srgbClr val="4F46E5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32520" y="1463040"/>
            <a:ext cx="2011680" cy="2011680"/>
          </a:xfrm>
          <a:prstGeom prst="arc">
            <a:avLst/>
          </a:prstGeom>
          <a:noFill/>
          <a:ln w="25400">
            <a:solidFill>
              <a:srgbClr val="B45309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691"/>
                </a:solidFill>
              </a:rPr>
              <a:t>LinkedIn Content Studio architecture | 1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CURRENT SYSTEM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1D"/>
                </a:solidFill>
              </a:rPr>
              <a:t>POC architecture: lean, useful, intentionally simple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5331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26D"/>
                </a:solidFill>
              </a:rPr>
              <a:t>A single Node service handles static assets, Claude requests, fallback generation, and metadata-only analytics.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E7E7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350008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11D"/>
                </a:solidFill>
              </a:rPr>
              <a:t>User browser / PWA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2926080" y="224028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54096" y="2350008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11D"/>
                </a:solidFill>
              </a:rPr>
              <a:t>Node HTTP server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5120640" y="182880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DFF3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48656" y="1938528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11D"/>
                </a:solidFill>
              </a:rPr>
              <a:t>Claude API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5120640" y="2816352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FFF0CC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48656" y="2926080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11D"/>
                </a:solidFill>
              </a:rPr>
              <a:t>Local fallback engine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7315200" y="224028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43216" y="2350008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11D"/>
                </a:solidFill>
              </a:rPr>
              <a:t>JSONL analytics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9509760" y="224028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631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37776" y="2350008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11D"/>
                </a:solidFill>
              </a:rPr>
              <a:t>Railway runtime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2304288" y="2569464"/>
            <a:ext cx="603504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98848" y="2414016"/>
            <a:ext cx="603504" cy="-27432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98848" y="2724912"/>
            <a:ext cx="603504" cy="402336"/>
          </a:xfrm>
          <a:prstGeom prst="line">
            <a:avLst/>
          </a:prstGeom>
          <a:noFill/>
          <a:ln w="1778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693408" y="2569464"/>
            <a:ext cx="603504" cy="0"/>
          </a:xfrm>
          <a:prstGeom prst="line">
            <a:avLst/>
          </a:prstGeom>
          <a:noFill/>
          <a:ln w="1778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887968" y="2569464"/>
            <a:ext cx="603504" cy="0"/>
          </a:xfrm>
          <a:prstGeom prst="line">
            <a:avLst/>
          </a:prstGeom>
          <a:noFill/>
          <a:ln w="17780">
            <a:solidFill>
              <a:srgbClr val="26312D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04672" y="397764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</a:rPr>
              <a:t>STRENGTHS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822960" y="444398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43708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Fast to ship, easy to reason about, and low operational overhead.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22960" y="484632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7731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Metadata-only observability avoids storing user ideas, samples, or generated posts.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822960" y="524865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51755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Claude usage metadata now feeds token and dollar consumption metrics.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6400800" y="397764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LIMITS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419088" y="444398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3708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No accounts, tenant model, durable workspace sync, quotas, or billing.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6419088" y="484632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JSONL analytics and browser local storage are POC foundations, not SaaS foundations.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419088" y="524865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51755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AI work is synchronous; scale needs queueing, retries, and model routing.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59436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691"/>
                </a:solidFill>
              </a:rPr>
              <a:t>LinkedIn Content Studio architecture | 2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PRODUCT FLOW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1D"/>
                </a:solidFill>
              </a:rPr>
              <a:t>The product loop is the architecture anchor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5331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26D"/>
                </a:solidFill>
              </a:rPr>
              <a:t>The future stack should preserve the simple path users already understand.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85216" y="2331720"/>
            <a:ext cx="10789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4414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11D"/>
                </a:solidFill>
              </a:rPr>
              <a:t>Profile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1664208" y="2642616"/>
            <a:ext cx="246888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02536" y="2331720"/>
            <a:ext cx="10789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F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0552" y="24414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11D"/>
                </a:solidFill>
              </a:rPr>
              <a:t>Topic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3081528" y="2642616"/>
            <a:ext cx="246888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19856" y="2331720"/>
            <a:ext cx="10789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F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24414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11D"/>
                </a:solidFill>
              </a:rPr>
              <a:t>Idea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4498848" y="2642616"/>
            <a:ext cx="246888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37176" y="2331720"/>
            <a:ext cx="1078992" cy="621792"/>
          </a:xfrm>
          <a:prstGeom prst="roundRect">
            <a:avLst>
              <a:gd name="adj" fmla="val 11765"/>
            </a:avLst>
          </a:prstGeom>
          <a:solidFill>
            <a:srgbClr val="DFF3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24414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11D"/>
                </a:solidFill>
              </a:rPr>
              <a:t>Draft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5916168" y="2642616"/>
            <a:ext cx="246888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54496" y="2331720"/>
            <a:ext cx="1078992" cy="621792"/>
          </a:xfrm>
          <a:prstGeom prst="roundRect">
            <a:avLst>
              <a:gd name="adj" fmla="val 11765"/>
            </a:avLst>
          </a:prstGeom>
          <a:solidFill>
            <a:srgbClr val="DFF3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24414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11D"/>
                </a:solidFill>
              </a:rPr>
              <a:t>Critique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7333488" y="2642616"/>
            <a:ext cx="246888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71816" y="2331720"/>
            <a:ext cx="1078992" cy="621792"/>
          </a:xfrm>
          <a:prstGeom prst="roundRect">
            <a:avLst>
              <a:gd name="adj" fmla="val 11765"/>
            </a:avLst>
          </a:prstGeom>
          <a:solidFill>
            <a:srgbClr val="DFF3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99832" y="24414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11D"/>
                </a:solidFill>
              </a:rPr>
              <a:t>Rewrite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8750808" y="2642616"/>
            <a:ext cx="246888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89136" y="2331720"/>
            <a:ext cx="1078992" cy="621792"/>
          </a:xfrm>
          <a:prstGeom prst="roundRect">
            <a:avLst>
              <a:gd name="adj" fmla="val 11765"/>
            </a:avLst>
          </a:prstGeom>
          <a:solidFill>
            <a:srgbClr val="DFF3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17152" y="24414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11D"/>
                </a:solidFill>
              </a:rPr>
              <a:t>Polish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10168128" y="2642616"/>
            <a:ext cx="246888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506456" y="2331720"/>
            <a:ext cx="1298448" cy="621792"/>
          </a:xfrm>
          <a:prstGeom prst="roundRect">
            <a:avLst>
              <a:gd name="adj" fmla="val 11765"/>
            </a:avLst>
          </a:prstGeom>
          <a:solidFill>
            <a:srgbClr val="DFF3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34472" y="2441448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11D"/>
                </a:solidFill>
              </a:rPr>
              <a:t>Copy / Save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804672" y="480060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F46E5"/>
                </a:solidFill>
              </a:rPr>
              <a:t>SIDECARS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822960" y="5120640"/>
            <a:ext cx="2331720" cy="603504"/>
          </a:xfrm>
          <a:prstGeom prst="roundRect">
            <a:avLst>
              <a:gd name="adj" fmla="val 12121"/>
            </a:avLst>
          </a:prstGeom>
          <a:solidFill>
            <a:srgbClr val="E7E7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" y="5230368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211D"/>
                </a:solidFill>
              </a:rPr>
              <a:t>Analytics events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56432" y="5120640"/>
            <a:ext cx="2331720" cy="603504"/>
          </a:xfrm>
          <a:prstGeom prst="roundRect">
            <a:avLst>
              <a:gd name="adj" fmla="val 12121"/>
            </a:avLst>
          </a:prstGeom>
          <a:solidFill>
            <a:srgbClr val="FFF0CC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84448" y="5230368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211D"/>
                </a:solidFill>
              </a:rPr>
              <a:t>Token + cost usage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89904" y="5120640"/>
            <a:ext cx="2331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5230368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211D"/>
                </a:solidFill>
              </a:rPr>
              <a:t>Privacy boundary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723376" y="5120640"/>
            <a:ext cx="2331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DF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51392" y="5230368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7211D"/>
                </a:solidFill>
              </a:rPr>
              <a:t>Quality feedback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436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691"/>
                </a:solidFill>
              </a:rPr>
              <a:t>LinkedIn Content Studio architecture | 3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TARGET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1D"/>
                </a:solidFill>
              </a:rPr>
              <a:t>Commercial platform shape for scale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5331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26D"/>
                </a:solidFill>
              </a:rPr>
              <a:t>Split the app into delivery, identity, core API, AI orchestration, data, events, and observability layers.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E7E7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" y="1938528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11D"/>
                </a:solidFill>
              </a:rPr>
              <a:t>PWA / Web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3566160" y="2139696"/>
            <a:ext cx="704088" cy="0"/>
          </a:xfrm>
          <a:prstGeom prst="line">
            <a:avLst/>
          </a:prstGeom>
          <a:noFill/>
          <a:ln w="1778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480560" y="1828800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E7E7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8576" y="1938528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11D"/>
                </a:solidFill>
              </a:rPr>
              <a:t>CDN / Edge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7178040" y="2139696"/>
            <a:ext cx="704088" cy="0"/>
          </a:xfrm>
          <a:prstGeom prst="line">
            <a:avLst/>
          </a:prstGeom>
          <a:noFill/>
          <a:ln w="1778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092440" y="1828800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E7E7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0456" y="1938528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11D"/>
                </a:solidFill>
              </a:rPr>
              <a:t>API Gateway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868680" y="2889504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" y="2999232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11D"/>
                </a:solidFill>
              </a:rPr>
              <a:t>AuthN/AuthZ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3566160" y="3200400"/>
            <a:ext cx="704088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80560" y="2889504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2999232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11D"/>
                </a:solidFill>
              </a:rPr>
              <a:t>App API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7178040" y="3200400"/>
            <a:ext cx="704088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92440" y="2889504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0456" y="2999232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11D"/>
                </a:solidFill>
              </a:rPr>
              <a:t>AI Orchestrator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868680" y="3950208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DFF3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" y="4059936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11D"/>
                </a:solidFill>
              </a:rPr>
              <a:t>Postgres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3566160" y="4261104"/>
            <a:ext cx="704088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480560" y="3950208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DFF3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08576" y="4059936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11D"/>
                </a:solidFill>
              </a:rPr>
              <a:t>Redis / Queue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7178040" y="4261104"/>
            <a:ext cx="704088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92440" y="3950208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DFF3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0456" y="4059936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11D"/>
                </a:solidFill>
              </a:rPr>
              <a:t>Object Storage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868680" y="5010912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0CC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6696" y="512064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11D"/>
                </a:solidFill>
              </a:rPr>
              <a:t>Event Collector</a:t>
            </a:r>
            <a:endParaRPr lang="en-US" sz="1140" dirty="0"/>
          </a:p>
        </p:txBody>
      </p:sp>
      <p:sp>
        <p:nvSpPr>
          <p:cNvPr id="31" name="Shape 29"/>
          <p:cNvSpPr/>
          <p:nvPr/>
        </p:nvSpPr>
        <p:spPr>
          <a:xfrm>
            <a:off x="3566160" y="5321808"/>
            <a:ext cx="704088" cy="0"/>
          </a:xfrm>
          <a:prstGeom prst="line">
            <a:avLst/>
          </a:prstGeom>
          <a:noFill/>
          <a:ln w="1778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480560" y="5010912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0CC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08576" y="512064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11D"/>
                </a:solidFill>
              </a:rPr>
              <a:t>Warehouse</a:t>
            </a:r>
            <a:endParaRPr lang="en-US" sz="1140" dirty="0"/>
          </a:p>
        </p:txBody>
      </p:sp>
      <p:sp>
        <p:nvSpPr>
          <p:cNvPr id="34" name="Shape 32"/>
          <p:cNvSpPr/>
          <p:nvPr/>
        </p:nvSpPr>
        <p:spPr>
          <a:xfrm>
            <a:off x="7178040" y="5321808"/>
            <a:ext cx="704088" cy="0"/>
          </a:xfrm>
          <a:prstGeom prst="line">
            <a:avLst/>
          </a:prstGeom>
          <a:noFill/>
          <a:ln w="1778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092440" y="5010912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FFF0CC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0456" y="512064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11D"/>
                </a:solidFill>
              </a:rPr>
              <a:t>Logs / Metrics / Traces</a:t>
            </a:r>
            <a:endParaRPr lang="en-US" sz="1140" dirty="0"/>
          </a:p>
        </p:txBody>
      </p:sp>
      <p:sp>
        <p:nvSpPr>
          <p:cNvPr id="37" name="Shape 35"/>
          <p:cNvSpPr/>
          <p:nvPr/>
        </p:nvSpPr>
        <p:spPr>
          <a:xfrm>
            <a:off x="2212848" y="2450592"/>
            <a:ext cx="0" cy="420624"/>
          </a:xfrm>
          <a:prstGeom prst="line">
            <a:avLst/>
          </a:prstGeom>
          <a:noFill/>
          <a:ln w="17780">
            <a:solidFill>
              <a:srgbClr val="66726D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824728" y="3511296"/>
            <a:ext cx="0" cy="420624"/>
          </a:xfrm>
          <a:prstGeom prst="line">
            <a:avLst/>
          </a:prstGeom>
          <a:noFill/>
          <a:ln w="17780">
            <a:solidFill>
              <a:srgbClr val="66726D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436608" y="3511296"/>
            <a:ext cx="0" cy="420624"/>
          </a:xfrm>
          <a:prstGeom prst="line">
            <a:avLst/>
          </a:prstGeom>
          <a:noFill/>
          <a:ln w="17780">
            <a:solidFill>
              <a:srgbClr val="66726D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824728" y="4572000"/>
            <a:ext cx="0" cy="420624"/>
          </a:xfrm>
          <a:prstGeom prst="line">
            <a:avLst/>
          </a:prstGeom>
          <a:noFill/>
          <a:ln w="17780">
            <a:solidFill>
              <a:srgbClr val="66726D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59436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691"/>
                </a:solidFill>
              </a:rPr>
              <a:t>LinkedIn Content Studio architecture | 4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TRUST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1D"/>
                </a:solidFill>
              </a:rPr>
              <a:t>Security, privacy, and governance become product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5331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26D"/>
                </a:solidFill>
              </a:rPr>
              <a:t>The commercial version needs explicit controls before team workflows, billing, and saved content scale.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E7E7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97964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</a:rPr>
              <a:t>Identity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22376" y="265176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57860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Managed auth provider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722376" y="327355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320040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RBAC for teams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722376" y="389534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8221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Session and device controls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3502152" y="1920240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DFF3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1997964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766E"/>
                </a:solidFill>
              </a:rPr>
              <a:t>Data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538728" y="265176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257860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Postgres tenant boundaries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3538728" y="327355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320040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Encrypted secrets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3538728" y="389534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38221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Delete and export controls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318504" y="1920240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FFF0CC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8504" y="1997964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</a:rPr>
              <a:t>AI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355080" y="265176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257860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Prompt versioning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355080" y="327355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320040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Model gateway policy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355080" y="389534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9672" y="38221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Rate limits and cost caps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9134856" y="1920240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EEF2F7"/>
          </a:solidFill>
          <a:ln w="12700">
            <a:solidFill>
              <a:srgbClr val="2631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34856" y="1997964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6312D"/>
                </a:solidFill>
              </a:rPr>
              <a:t>Operations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171432" y="265176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36024" y="257860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Request IDs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9171432" y="327355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36024" y="320040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Audit logs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9171432" y="389534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36024" y="382219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SLOs and incident process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822960" y="5193792"/>
            <a:ext cx="10469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0976" y="5303520"/>
            <a:ext cx="10213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1D"/>
                </a:solidFill>
              </a:rPr>
              <a:t>Principle: analytics can measure behavior and cost without capturing user ideas, samples, generated posts, or final drafts.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436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691"/>
                </a:solidFill>
              </a:rPr>
              <a:t>LinkedIn Content Studio architecture | 5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SCALE 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1D"/>
                </a:solidFill>
              </a:rPr>
              <a:t>Do not scale the POC; graduate it by milestone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5331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26D"/>
                </a:solidFill>
              </a:rPr>
              <a:t>Each stage earns the right to add operational complexity.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" y="1755648"/>
            <a:ext cx="1143000" cy="310896"/>
          </a:xfrm>
          <a:prstGeom prst="roundRect">
            <a:avLst>
              <a:gd name="adj" fmla="val 47059"/>
            </a:avLst>
          </a:prstGeom>
          <a:solidFill>
            <a:srgbClr val="DFF3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3337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766E"/>
                </a:solidFill>
              </a:rPr>
              <a:t>POC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121408" y="18013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1D"/>
                </a:solidFill>
              </a:rPr>
              <a:t>50-200 users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03320" y="180136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6D"/>
                </a:solidFill>
              </a:rPr>
              <a:t>PWA, Node API, Claude, JSONL analytics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25880" y="2084832"/>
            <a:ext cx="0" cy="457200"/>
          </a:xfrm>
          <a:prstGeom prst="line">
            <a:avLst/>
          </a:prstGeom>
          <a:noFill/>
          <a:ln w="17780">
            <a:solidFill>
              <a:srgbClr val="9AA7A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9808" y="2596896"/>
            <a:ext cx="1143000" cy="310896"/>
          </a:xfrm>
          <a:prstGeom prst="roundRect">
            <a:avLst>
              <a:gd name="adj" fmla="val 47059"/>
            </a:avLst>
          </a:prstGeom>
          <a:solidFill>
            <a:srgbClr val="E7E7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67462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</a:rPr>
              <a:t>Private beta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121408" y="26426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1D"/>
                </a:solidFill>
              </a:rPr>
              <a:t>1k-5k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3320" y="264261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6D"/>
                </a:solidFill>
              </a:rPr>
              <a:t>Auth, Postgres, saved workspace, rate limits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25880" y="2926080"/>
            <a:ext cx="0" cy="457200"/>
          </a:xfrm>
          <a:prstGeom prst="line">
            <a:avLst/>
          </a:prstGeom>
          <a:noFill/>
          <a:ln w="17780">
            <a:solidFill>
              <a:srgbClr val="9AA7A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9808" y="3438144"/>
            <a:ext cx="1143000" cy="310896"/>
          </a:xfrm>
          <a:prstGeom prst="roundRect">
            <a:avLst>
              <a:gd name="adj" fmla="val 47059"/>
            </a:avLst>
          </a:prstGeom>
          <a:solidFill>
            <a:srgbClr val="DFF3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51586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766E"/>
                </a:solidFill>
              </a:rPr>
              <a:t>Public beta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121408" y="34838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1D"/>
                </a:solidFill>
              </a:rPr>
              <a:t>10k-50k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03320" y="34838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6D"/>
                </a:solidFill>
              </a:rPr>
              <a:t>CDN, Redis queue, workers, event pipeline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25880" y="3767328"/>
            <a:ext cx="0" cy="457200"/>
          </a:xfrm>
          <a:prstGeom prst="line">
            <a:avLst/>
          </a:prstGeom>
          <a:noFill/>
          <a:ln w="17780">
            <a:solidFill>
              <a:srgbClr val="9AA7A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9808" y="4279392"/>
            <a:ext cx="1143000" cy="310896"/>
          </a:xfrm>
          <a:prstGeom prst="roundRect">
            <a:avLst>
              <a:gd name="adj" fmla="val 47059"/>
            </a:avLst>
          </a:prstGeom>
          <a:solidFill>
            <a:srgbClr val="E7E7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357116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</a:rPr>
              <a:t>SaaS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121408" y="43251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1D"/>
                </a:solidFill>
              </a:rPr>
              <a:t>100k-250k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03320" y="43251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6D"/>
                </a:solidFill>
              </a:rPr>
              <a:t>Billing, teams, RBAC, quotas, model gateway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25880" y="4608576"/>
            <a:ext cx="0" cy="457200"/>
          </a:xfrm>
          <a:prstGeom prst="line">
            <a:avLst/>
          </a:prstGeom>
          <a:noFill/>
          <a:ln w="17780">
            <a:solidFill>
              <a:srgbClr val="9AA7A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9808" y="5120640"/>
            <a:ext cx="1143000" cy="310896"/>
          </a:xfrm>
          <a:prstGeom prst="roundRect">
            <a:avLst>
              <a:gd name="adj" fmla="val 47059"/>
            </a:avLst>
          </a:prstGeom>
          <a:solidFill>
            <a:srgbClr val="DFF3E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198364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766E"/>
                </a:solidFill>
              </a:rPr>
              <a:t>1M-ready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121408" y="51663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1D"/>
                </a:solidFill>
              </a:rPr>
              <a:t>1M users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51663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26D"/>
                </a:solidFill>
              </a:rPr>
              <a:t>Multi-region, warehouse, experiments, SLOs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691"/>
                </a:solidFill>
              </a:rPr>
              <a:t>LinkedIn Content Studio architecture | 6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DECISION QUEUE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76656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1D"/>
                </a:solidFill>
              </a:rPr>
              <a:t>The next architecture choices should follow traction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5331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26D"/>
                </a:solidFill>
              </a:rPr>
              <a:t>The right stack depends on whether users return, personalize, save, and pay.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</a:rPr>
              <a:t>DECIDE NOW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822960" y="234086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2677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Keep metadata-only analytics as a non-negotiable privacy constraint.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6700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Protect the analytics dashboard with ANALYTICS_ADMIN_TOKEN before broader sharing.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822960" y="314553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0723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Use GitHub + Railway until beta usage proves the need for more platform surface.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6400800" y="187452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F46E5"/>
                </a:solidFill>
              </a:rPr>
              <a:t>DECIDE AT BETA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6446520" y="234086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1112" y="22677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Auth provider, database provider, event pipeline, and saved-content privacy model.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446520" y="274320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2670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Framework migration path: Fastify/Express API first, Next.js or Remix when routing/auth/billing need it.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446520" y="314553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30723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1D"/>
                </a:solidFill>
              </a:rPr>
              <a:t>AI platform split: queue, workers, model gateway, prompt versioning, eval harness.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68680" y="5029200"/>
            <a:ext cx="10332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" y="5138928"/>
            <a:ext cx="10076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1D"/>
                </a:solidFill>
              </a:rPr>
              <a:t>North star: completed publishable posts per active user per month. Architecture exists to make that metric reliable, private, and economically healthy.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691"/>
                </a:solidFill>
              </a:rPr>
              <a:t>LinkedIn Content Studio architecture | 7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LinkedIn Content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LinkedIn Content Studio Technical Architecture</dc:title>
  <dc:subject>Technical architecture and 1M-user roadmap</dc:subject>
  <dc:creator>LinkedIn Content Studio</dc:creator>
  <cp:lastModifiedBy>LinkedIn Content Studio</cp:lastModifiedBy>
  <cp:revision>1</cp:revision>
  <dcterms:created xsi:type="dcterms:W3CDTF">2026-05-01T03:41:12Z</dcterms:created>
  <dcterms:modified xsi:type="dcterms:W3CDTF">2026-05-01T03:41:12Z</dcterms:modified>
</cp:coreProperties>
</file>